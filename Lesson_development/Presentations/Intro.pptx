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7"/>
  </p:notesMasterIdLst>
  <p:sldIdLst>
    <p:sldId id="313" r:id="rId2"/>
    <p:sldId id="314" r:id="rId3"/>
    <p:sldId id="315" r:id="rId4"/>
    <p:sldId id="316" r:id="rId5"/>
    <p:sldId id="317" r:id="rId6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pos="381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C520C8-845C-4FE0-9458-B6264FF730C8}" type="datetimeFigureOut">
              <a:rPr lang="nl-NL" smtClean="0"/>
              <a:t>27-8-2026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A101E20-6382-40C6-B9BD-CBC37085D84E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167376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C82A3931-C8FB-9179-7EA6-E0F056F18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4AD38DB6-BA2F-3BD6-2FBB-B40A8424E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2E852F3B-A4BB-3C13-75F6-FC2A5A0CE1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8487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96DE34D1-79B9-B41E-8C02-B59918A11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9E4F2330-04B8-D58D-FA0F-2A165AEA9D0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9F7A8982-9E4C-0120-A724-EF7882CEEA5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13221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8F40822B-8458-4D60-F4AD-D967352EA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811AC60E-9D0B-A710-99F1-272E63A99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We have many </a:t>
            </a:r>
            <a:r>
              <a:rPr lang="en-US" dirty="0" err="1"/>
              <a:t>inititiaves</a:t>
            </a:r>
            <a:r>
              <a:rPr lang="en-US" dirty="0"/>
              <a:t> in the NL that revolves around building awareness on interoperability from a specific discipline standpoint</a:t>
            </a:r>
            <a:endParaRPr dirty="0"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43DDF087-2895-7558-D0F2-BB2E20C842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72733457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30A55002-52BC-AD69-8556-81218E07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4974B704-A7B9-D709-637C-80DE73DC3D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237DEF10-419B-AC43-776B-B0DE8F2895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9233697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5">
          <a:extLst>
            <a:ext uri="{FF2B5EF4-FFF2-40B4-BE49-F238E27FC236}">
              <a16:creationId xmlns:a16="http://schemas.microsoft.com/office/drawing/2014/main" id="{B482E231-C714-E3B7-FD60-08992091B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6" name="Google Shape;1066;p43:notes">
            <a:extLst>
              <a:ext uri="{FF2B5EF4-FFF2-40B4-BE49-F238E27FC236}">
                <a16:creationId xmlns:a16="http://schemas.microsoft.com/office/drawing/2014/main" id="{69BD8AC3-1768-3112-58F4-35EA087838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7" name="Google Shape;1067;p43:notes">
            <a:extLst>
              <a:ext uri="{FF2B5EF4-FFF2-40B4-BE49-F238E27FC236}">
                <a16:creationId xmlns:a16="http://schemas.microsoft.com/office/drawing/2014/main" id="{3AE9234A-AE7E-FAA5-397E-1702635654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3200185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1">
  <p:cSld name="Inbetween Title 01">
    <p:bg>
      <p:bgPr>
        <a:solidFill>
          <a:schemeClr val="accent5"/>
        </a:solidFill>
        <a:effectLst/>
      </p:bgPr>
    </p:bg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13"/>
          <p:cNvSpPr txBox="1">
            <a:spLocks noGrp="1"/>
          </p:cNvSpPr>
          <p:nvPr>
            <p:ph type="body" idx="1"/>
          </p:nvPr>
        </p:nvSpPr>
        <p:spPr>
          <a:xfrm>
            <a:off x="149841" y="4826000"/>
            <a:ext cx="7020600" cy="16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5" name="Google Shape;385;p113"/>
          <p:cNvSpPr txBox="1">
            <a:spLocks noGrp="1"/>
          </p:cNvSpPr>
          <p:nvPr>
            <p:ph type="body" idx="2"/>
          </p:nvPr>
        </p:nvSpPr>
        <p:spPr>
          <a:xfrm>
            <a:off x="152400" y="2343150"/>
            <a:ext cx="72867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6" name="Google Shape;386;p113"/>
          <p:cNvSpPr txBox="1">
            <a:spLocks noGrp="1"/>
          </p:cNvSpPr>
          <p:nvPr>
            <p:ph type="body" idx="3"/>
          </p:nvPr>
        </p:nvSpPr>
        <p:spPr>
          <a:xfrm>
            <a:off x="1936750" y="6473707"/>
            <a:ext cx="4673700" cy="20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87" name="Google Shape;387;p113"/>
          <p:cNvSpPr txBox="1">
            <a:spLocks noGrp="1"/>
          </p:cNvSpPr>
          <p:nvPr>
            <p:ph type="body" idx="4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92029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2">
  <p:cSld name="Inbetween Title 02">
    <p:bg>
      <p:bgPr>
        <a:solidFill>
          <a:schemeClr val="accent5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14"/>
          <p:cNvSpPr txBox="1">
            <a:spLocks noGrp="1"/>
          </p:cNvSpPr>
          <p:nvPr>
            <p:ph type="body" idx="1"/>
          </p:nvPr>
        </p:nvSpPr>
        <p:spPr>
          <a:xfrm>
            <a:off x="149841" y="4826000"/>
            <a:ext cx="7020529" cy="1621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0" name="Google Shape;390;p114"/>
          <p:cNvSpPr txBox="1">
            <a:spLocks noGrp="1"/>
          </p:cNvSpPr>
          <p:nvPr>
            <p:ph type="body" idx="2"/>
          </p:nvPr>
        </p:nvSpPr>
        <p:spPr>
          <a:xfrm>
            <a:off x="1419225" y="2343150"/>
            <a:ext cx="7286700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1" name="Google Shape;391;p114"/>
          <p:cNvSpPr txBox="1">
            <a:spLocks noGrp="1"/>
          </p:cNvSpPr>
          <p:nvPr>
            <p:ph type="body" idx="3"/>
          </p:nvPr>
        </p:nvSpPr>
        <p:spPr>
          <a:xfrm>
            <a:off x="130791" y="2343149"/>
            <a:ext cx="1190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2" name="Google Shape;392;p114"/>
          <p:cNvSpPr txBox="1">
            <a:spLocks noGrp="1"/>
          </p:cNvSpPr>
          <p:nvPr>
            <p:ph type="body" idx="4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3" name="Google Shape;393;p114"/>
          <p:cNvSpPr txBox="1">
            <a:spLocks noGrp="1"/>
          </p:cNvSpPr>
          <p:nvPr>
            <p:ph type="body" idx="5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812126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3">
  <p:cSld name="Inbetween Title 03">
    <p:bg>
      <p:bgPr>
        <a:solidFill>
          <a:schemeClr val="accent5"/>
        </a:solidFill>
        <a:effectLst/>
      </p:bgPr>
    </p:bg>
    <p:spTree>
      <p:nvGrpSpPr>
        <p:cNvPr id="1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115"/>
          <p:cNvSpPr txBox="1">
            <a:spLocks noGrp="1"/>
          </p:cNvSpPr>
          <p:nvPr>
            <p:ph type="body" idx="1"/>
          </p:nvPr>
        </p:nvSpPr>
        <p:spPr>
          <a:xfrm>
            <a:off x="152400" y="2343150"/>
            <a:ext cx="7286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6" name="Google Shape;396;p115"/>
          <p:cNvSpPr txBox="1">
            <a:spLocks noGrp="1"/>
          </p:cNvSpPr>
          <p:nvPr>
            <p:ph type="body" idx="2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56256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4">
  <p:cSld name="Inbetween Title 04">
    <p:bg>
      <p:bgPr>
        <a:solidFill>
          <a:schemeClr val="accent5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116"/>
          <p:cNvSpPr txBox="1">
            <a:spLocks noGrp="1"/>
          </p:cNvSpPr>
          <p:nvPr>
            <p:ph type="body" idx="1"/>
          </p:nvPr>
        </p:nvSpPr>
        <p:spPr>
          <a:xfrm>
            <a:off x="1419225" y="2343150"/>
            <a:ext cx="7286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399" name="Google Shape;399;p116"/>
          <p:cNvSpPr txBox="1">
            <a:spLocks noGrp="1"/>
          </p:cNvSpPr>
          <p:nvPr>
            <p:ph type="body" idx="2"/>
          </p:nvPr>
        </p:nvSpPr>
        <p:spPr>
          <a:xfrm>
            <a:off x="130791" y="2343149"/>
            <a:ext cx="119062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0" name="Google Shape;400;p116"/>
          <p:cNvSpPr txBox="1">
            <a:spLocks noGrp="1"/>
          </p:cNvSpPr>
          <p:nvPr>
            <p:ph type="body" idx="3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702970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5">
  <p:cSld name="Inbetween Title 05">
    <p:bg>
      <p:bgPr>
        <a:solidFill>
          <a:schemeClr val="accent5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117"/>
          <p:cNvSpPr txBox="1">
            <a:spLocks noGrp="1"/>
          </p:cNvSpPr>
          <p:nvPr>
            <p:ph type="body" idx="1"/>
          </p:nvPr>
        </p:nvSpPr>
        <p:spPr>
          <a:xfrm>
            <a:off x="152400" y="552451"/>
            <a:ext cx="7286625" cy="87215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3" name="Google Shape;403;p117"/>
          <p:cNvSpPr/>
          <p:nvPr/>
        </p:nvSpPr>
        <p:spPr>
          <a:xfrm>
            <a:off x="251099" y="1536361"/>
            <a:ext cx="45719" cy="45719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17"/>
          <p:cNvSpPr txBox="1">
            <a:spLocks noGrp="1"/>
          </p:cNvSpPr>
          <p:nvPr>
            <p:ph type="body" idx="2"/>
          </p:nvPr>
        </p:nvSpPr>
        <p:spPr>
          <a:xfrm>
            <a:off x="251099" y="1470320"/>
            <a:ext cx="3560201" cy="1862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5" name="Google Shape;405;p117"/>
          <p:cNvSpPr txBox="1">
            <a:spLocks noGrp="1"/>
          </p:cNvSpPr>
          <p:nvPr>
            <p:ph type="body" idx="3"/>
          </p:nvPr>
        </p:nvSpPr>
        <p:spPr>
          <a:xfrm>
            <a:off x="149842" y="1722628"/>
            <a:ext cx="4431683" cy="594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6" name="Google Shape;406;p117"/>
          <p:cNvSpPr txBox="1">
            <a:spLocks noGrp="1"/>
          </p:cNvSpPr>
          <p:nvPr>
            <p:ph type="body" idx="4"/>
          </p:nvPr>
        </p:nvSpPr>
        <p:spPr>
          <a:xfrm>
            <a:off x="154971" y="4540926"/>
            <a:ext cx="5941029" cy="18838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11818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Inter Light"/>
              <a:buNone/>
              <a:defRPr sz="11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7" name="Google Shape;407;p117"/>
          <p:cNvSpPr txBox="1">
            <a:spLocks noGrp="1"/>
          </p:cNvSpPr>
          <p:nvPr>
            <p:ph type="body" idx="5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08" name="Google Shape;408;p117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9" name="Google Shape;409;p117"/>
          <p:cNvSpPr txBox="1">
            <a:spLocks noGrp="1"/>
          </p:cNvSpPr>
          <p:nvPr>
            <p:ph type="body" idx="6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782925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6">
  <p:cSld name="Inbetween Title 06">
    <p:bg>
      <p:bgPr>
        <a:solidFill>
          <a:srgbClr val="F29100"/>
        </a:solidFill>
        <a:effectLst/>
      </p:bgPr>
    </p:bg>
    <p:spTree>
      <p:nvGrpSpPr>
        <p:cNvPr id="1" name="Shape 4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1" name="Google Shape;411;p118"/>
          <p:cNvSpPr txBox="1">
            <a:spLocks noGrp="1"/>
          </p:cNvSpPr>
          <p:nvPr>
            <p:ph type="body" idx="1"/>
          </p:nvPr>
        </p:nvSpPr>
        <p:spPr>
          <a:xfrm>
            <a:off x="4733926" y="5952792"/>
            <a:ext cx="6177280" cy="4908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Inter Light"/>
              <a:buNone/>
              <a:defRPr sz="14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2" name="Google Shape;412;p118"/>
          <p:cNvSpPr txBox="1">
            <a:spLocks noGrp="1"/>
          </p:cNvSpPr>
          <p:nvPr>
            <p:ph type="body" idx="2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3" name="Google Shape;413;p118"/>
          <p:cNvSpPr txBox="1">
            <a:spLocks noGrp="1"/>
          </p:cNvSpPr>
          <p:nvPr>
            <p:ph type="body" idx="3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18618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Inbetween Title 07">
  <p:cSld name="Inbetween Title 07">
    <p:bg>
      <p:bgPr>
        <a:solidFill>
          <a:schemeClr val="accent5"/>
        </a:solidFill>
        <a:effectLst/>
      </p:bgPr>
    </p:bg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119"/>
          <p:cNvSpPr txBox="1">
            <a:spLocks noGrp="1"/>
          </p:cNvSpPr>
          <p:nvPr>
            <p:ph type="body" idx="1"/>
          </p:nvPr>
        </p:nvSpPr>
        <p:spPr>
          <a:xfrm>
            <a:off x="1936750" y="6473707"/>
            <a:ext cx="4673600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6" name="Google Shape;416;p119"/>
          <p:cNvSpPr txBox="1">
            <a:spLocks noGrp="1"/>
          </p:cNvSpPr>
          <p:nvPr>
            <p:ph type="body" idx="2"/>
          </p:nvPr>
        </p:nvSpPr>
        <p:spPr>
          <a:xfrm>
            <a:off x="10131490" y="6473707"/>
            <a:ext cx="1897527" cy="207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r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accent4"/>
              </a:buClr>
              <a:buSzPts val="750"/>
              <a:buFont typeface="Arial"/>
              <a:buNone/>
              <a:defRPr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accent4"/>
              </a:buClr>
              <a:buSzPts val="800"/>
              <a:buFont typeface="Arial"/>
              <a:buNone/>
              <a:defRPr sz="80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7" name="Google Shape;417;p119"/>
          <p:cNvSpPr txBox="1">
            <a:spLocks noGrp="1"/>
          </p:cNvSpPr>
          <p:nvPr>
            <p:ph type="body" idx="3"/>
          </p:nvPr>
        </p:nvSpPr>
        <p:spPr>
          <a:xfrm>
            <a:off x="149842" y="4826000"/>
            <a:ext cx="5705476" cy="16212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Inter Light"/>
              <a:buNone/>
              <a:defRPr sz="15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8" name="Google Shape;418;p119"/>
          <p:cNvSpPr txBox="1">
            <a:spLocks noGrp="1"/>
          </p:cNvSpPr>
          <p:nvPr>
            <p:ph type="body" idx="4"/>
          </p:nvPr>
        </p:nvSpPr>
        <p:spPr>
          <a:xfrm>
            <a:off x="152400" y="2343150"/>
            <a:ext cx="5705475" cy="2285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9" name="Google Shape;419;p119"/>
          <p:cNvSpPr>
            <a:spLocks noGrp="1"/>
          </p:cNvSpPr>
          <p:nvPr>
            <p:ph type="pic" idx="5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noFill/>
          <a:ln>
            <a:noFill/>
          </a:ln>
        </p:spPr>
      </p:sp>
      <p:sp>
        <p:nvSpPr>
          <p:cNvPr id="420" name="Google Shape;420;p119"/>
          <p:cNvSpPr/>
          <p:nvPr/>
        </p:nvSpPr>
        <p:spPr>
          <a:xfrm>
            <a:off x="249799" y="285269"/>
            <a:ext cx="80912" cy="80912"/>
          </a:xfrm>
          <a:prstGeom prst="ellipse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p119"/>
          <p:cNvSpPr txBox="1">
            <a:spLocks noGrp="1"/>
          </p:cNvSpPr>
          <p:nvPr>
            <p:ph type="body" idx="6"/>
          </p:nvPr>
        </p:nvSpPr>
        <p:spPr>
          <a:xfrm>
            <a:off x="290255" y="201884"/>
            <a:ext cx="2408237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1pPr>
            <a:lvl2pPr marL="914400" marR="0" lvl="1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2pPr>
            <a:lvl3pPr marL="1371600" marR="0" lvl="2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3pPr>
            <a:lvl4pPr marL="1828800" marR="0" lvl="3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4pPr>
            <a:lvl5pPr marL="2286000" marR="0" lvl="4" indent="-3111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Arial"/>
              <a:buChar char="•"/>
              <a:defRPr sz="1300" b="0" i="0" u="none" strike="noStrike" cap="none">
                <a:solidFill>
                  <a:schemeClr val="dk1"/>
                </a:solidFill>
                <a:latin typeface="Space Grotesk"/>
                <a:ea typeface="Space Grotesk"/>
                <a:cs typeface="Space Grotesk"/>
                <a:sym typeface="Space Grotesk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7322609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75393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7940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B2F65A-CA80-4036-A1DE-2EDF1F345BB4}" type="datetimeFigureOut">
              <a:rPr lang="en-GB" smtClean="0"/>
              <a:t>27/08/2026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41E82D-45F5-4530-9FEE-352F69971CC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8227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112"/>
          <p:cNvSpPr txBox="1"/>
          <p:nvPr/>
        </p:nvSpPr>
        <p:spPr>
          <a:xfrm>
            <a:off x="163758" y="6463552"/>
            <a:ext cx="118879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</a:pPr>
            <a:r>
              <a:rPr lang="de-DE" sz="750" b="0" i="0" u="none" strike="noStrike" cap="none">
                <a:solidFill>
                  <a:schemeClr val="accent4"/>
                </a:solidFill>
                <a:latin typeface="Space Grotesk"/>
                <a:ea typeface="Space Grotesk"/>
                <a:cs typeface="Space Grotesk"/>
                <a:sym typeface="Space Grotesk"/>
              </a:rPr>
              <a:t>4TU.RESEARCH DATA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6290286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hyperlink" Target="mailto:A.E.Wylczynska@tudelft.nl" TargetMode="External"/><Relationship Id="rId3" Type="http://schemas.openxmlformats.org/officeDocument/2006/relationships/image" Target="../media/image3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L.M.InigoDeLaCruz@tudelft.nl" TargetMode="Externa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s://4turesearchdata-carpentries.github.io/interoperability-climate-sciences/index.html" TargetMode="External"/><Relationship Id="rId4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068">
          <a:extLst>
            <a:ext uri="{FF2B5EF4-FFF2-40B4-BE49-F238E27FC236}">
              <a16:creationId xmlns:a16="http://schemas.microsoft.com/office/drawing/2014/main" id="{D54E01BA-46E1-A188-E86D-2BDF0365F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3">
            <a:extLst>
              <a:ext uri="{FF2B5EF4-FFF2-40B4-BE49-F238E27FC236}">
                <a16:creationId xmlns:a16="http://schemas.microsoft.com/office/drawing/2014/main" id="{871C7448-7A50-2C57-6073-EB86A1615C8F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64077" y="636655"/>
            <a:ext cx="117633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US" sz="4000" dirty="0"/>
              <a:t>Interoperability in Climate and Atmospheric sciences</a:t>
            </a:r>
            <a:endParaRPr sz="4000" dirty="0"/>
          </a:p>
        </p:txBody>
      </p:sp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618B9F0E-E06D-F716-AE71-C588FBE2498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02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070;p43">
            <a:extLst>
              <a:ext uri="{FF2B5EF4-FFF2-40B4-BE49-F238E27FC236}">
                <a16:creationId xmlns:a16="http://schemas.microsoft.com/office/drawing/2014/main" id="{F27C4388-0FB1-755F-7D32-E87CE1598747}"/>
              </a:ext>
            </a:extLst>
          </p:cNvPr>
          <p:cNvSpPr txBox="1">
            <a:spLocks/>
          </p:cNvSpPr>
          <p:nvPr/>
        </p:nvSpPr>
        <p:spPr>
          <a:xfrm>
            <a:off x="3009900" y="1677484"/>
            <a:ext cx="5753100" cy="162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C3C3C"/>
              </a:buClr>
              <a:buSzPts val="6000"/>
              <a:buFont typeface="Inter Light"/>
              <a:buNone/>
              <a:tabLst/>
              <a:defRPr/>
            </a:pP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Inter Light"/>
                <a:sym typeface="Inter Light"/>
              </a:rPr>
              <a:t>FAIR </a:t>
            </a:r>
            <a:r>
              <a:rPr kumimoji="0" lang="en-US" sz="3600" b="0" i="0" u="none" strike="noStrike" kern="0" cap="none" spc="0" normalizeH="0" baseline="0" noProof="0" dirty="0" err="1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Inter Light"/>
                <a:sym typeface="Inter Light"/>
              </a:rPr>
              <a:t>NetCDF</a:t>
            </a:r>
            <a:r>
              <a:rPr kumimoji="0" lang="en-US" sz="3600" b="0" i="0" u="none" strike="noStrike" kern="0" cap="none" spc="0" normalizeH="0" baseline="0" noProof="0" dirty="0">
                <a:ln>
                  <a:noFill/>
                </a:ln>
                <a:solidFill>
                  <a:srgbClr val="3C3C3C"/>
                </a:solidFill>
                <a:effectLst/>
                <a:uLnTx/>
                <a:uFillTx/>
                <a:latin typeface="Inter Light"/>
                <a:sym typeface="Inter Light"/>
              </a:rPr>
              <a:t> Data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C33FDE-1DCE-12C6-9135-F3E3CEF2A953}"/>
              </a:ext>
            </a:extLst>
          </p:cNvPr>
          <p:cNvSpPr txBox="1"/>
          <p:nvPr/>
        </p:nvSpPr>
        <p:spPr>
          <a:xfrm>
            <a:off x="4749082" y="3342900"/>
            <a:ext cx="2513829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000" dirty="0"/>
              <a:t>Pilot workshop</a:t>
            </a:r>
          </a:p>
          <a:p>
            <a:pPr algn="ctr"/>
            <a:endParaRPr lang="en-US" sz="2000" dirty="0"/>
          </a:p>
          <a:p>
            <a:pPr algn="ctr"/>
            <a:r>
              <a:rPr lang="en-US" sz="2000" b="1" dirty="0"/>
              <a:t>October 22</a:t>
            </a:r>
            <a:r>
              <a:rPr lang="en-US" sz="2000" b="1" baseline="30000" dirty="0"/>
              <a:t>nd</a:t>
            </a:r>
            <a:r>
              <a:rPr lang="en-US" sz="2000" b="1" dirty="0"/>
              <a:t> , 2026</a:t>
            </a:r>
            <a:endParaRPr lang="nl-NL" sz="2000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DE5E3B4-7866-7471-C4AC-63FBE416E3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474" y="5664876"/>
            <a:ext cx="3321185" cy="9634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69308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068">
          <a:extLst>
            <a:ext uri="{FF2B5EF4-FFF2-40B4-BE49-F238E27FC236}">
              <a16:creationId xmlns:a16="http://schemas.microsoft.com/office/drawing/2014/main" id="{45BBEDDF-D776-CC4A-E881-5471EACC6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760F410D-485A-4F1F-277F-7B78DCB336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02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4865FCA-84DA-9167-1FF6-6FEADF3289A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72474" y="5664876"/>
            <a:ext cx="3321185" cy="963483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12FB38DC-0EB5-7C6F-A308-579C0E4ADE1D}"/>
              </a:ext>
            </a:extLst>
          </p:cNvPr>
          <p:cNvGrpSpPr/>
          <p:nvPr/>
        </p:nvGrpSpPr>
        <p:grpSpPr>
          <a:xfrm>
            <a:off x="1466846" y="1734375"/>
            <a:ext cx="2600325" cy="2710125"/>
            <a:chOff x="1209671" y="1666873"/>
            <a:chExt cx="2600325" cy="2710125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9811418A-8769-8109-C9FA-6585F6BF0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543047" y="1666873"/>
              <a:ext cx="1933575" cy="193357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F234B9EA-9C2A-6DC9-4B49-4DCE3DA805BE}"/>
                </a:ext>
              </a:extLst>
            </p:cNvPr>
            <p:cNvSpPr txBox="1"/>
            <p:nvPr/>
          </p:nvSpPr>
          <p:spPr>
            <a:xfrm>
              <a:off x="1209671" y="3730667"/>
              <a:ext cx="2600325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nl-NL" sz="1200" b="1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Leila Iñigo de la Cruz</a:t>
              </a:r>
              <a:br>
                <a:rPr lang="nl-NL" dirty="0"/>
              </a:br>
              <a:r>
                <a:rPr lang="nl-NL" sz="1200" b="0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Digital </a:t>
              </a:r>
              <a:r>
                <a:rPr lang="nl-NL" sz="1200" b="0" i="0" dirty="0" err="1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Competences</a:t>
              </a:r>
              <a:r>
                <a:rPr lang="nl-NL" sz="1200" b="0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 Trainer</a:t>
              </a:r>
              <a:br>
                <a:rPr lang="nl-NL" dirty="0"/>
              </a:br>
              <a:r>
                <a:rPr lang="nl-NL" sz="1200" b="0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E: </a:t>
              </a:r>
              <a:r>
                <a:rPr lang="nl-NL" sz="1200" b="0" i="0" u="none" strike="noStrike" dirty="0">
                  <a:solidFill>
                    <a:schemeClr val="accent2"/>
                  </a:solidFill>
                  <a:effectLst/>
                  <a:latin typeface="Source Sans Pro" panose="020B0503030403020204" pitchFamily="34" charset="0"/>
                  <a:hlinkClick r:id="rId6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L.M.InigoDeLaCruz@tudelft.nl</a:t>
              </a:r>
              <a:endParaRPr lang="nl-NL" dirty="0">
                <a:solidFill>
                  <a:schemeClr val="accent2"/>
                </a:solidFill>
              </a:endParaRP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90A6A0D-F0C5-AA19-FCEC-87B8822285FC}"/>
              </a:ext>
            </a:extLst>
          </p:cNvPr>
          <p:cNvGrpSpPr/>
          <p:nvPr/>
        </p:nvGrpSpPr>
        <p:grpSpPr>
          <a:xfrm>
            <a:off x="8420103" y="1734375"/>
            <a:ext cx="2228850" cy="2642623"/>
            <a:chOff x="7191374" y="1666874"/>
            <a:chExt cx="2228850" cy="2642623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7B3E8D2-D2F6-74BF-B3BB-B7890089A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7191374" y="1666874"/>
              <a:ext cx="1933575" cy="1933575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DF7799E6-3995-1694-3F6D-3EB5B34FC6BF}"/>
                </a:ext>
              </a:extLst>
            </p:cNvPr>
            <p:cNvSpPr txBox="1"/>
            <p:nvPr/>
          </p:nvSpPr>
          <p:spPr>
            <a:xfrm>
              <a:off x="7191374" y="3663166"/>
              <a:ext cx="2228850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nl-NL" sz="1200" b="1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Aleksandra Wilczynska</a:t>
              </a:r>
              <a:br>
                <a:rPr lang="nl-NL" dirty="0"/>
              </a:br>
              <a:r>
                <a:rPr lang="nl-NL" sz="1200" b="0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Data Solutions Engineer</a:t>
              </a:r>
              <a:br>
                <a:rPr lang="nl-NL" dirty="0"/>
              </a:br>
              <a:r>
                <a:rPr lang="nl-NL" sz="1200" b="0" i="0" dirty="0">
                  <a:solidFill>
                    <a:srgbClr val="353535"/>
                  </a:solidFill>
                  <a:effectLst/>
                  <a:latin typeface="Source Sans Pro" panose="020B0503030403020204" pitchFamily="34" charset="0"/>
                </a:rPr>
                <a:t>E:</a:t>
              </a:r>
              <a:r>
                <a:rPr lang="nl-NL" sz="1200" b="0" i="0" dirty="0">
                  <a:solidFill>
                    <a:schemeClr val="accent2"/>
                  </a:solidFill>
                  <a:effectLst/>
                  <a:latin typeface="Source Sans Pro" panose="020B0503030403020204" pitchFamily="34" charset="0"/>
                </a:rPr>
                <a:t> </a:t>
              </a:r>
              <a:r>
                <a:rPr lang="nl-NL" sz="1200" b="0" i="0" u="none" strike="noStrike" dirty="0">
                  <a:solidFill>
                    <a:schemeClr val="accent2"/>
                  </a:solidFill>
                  <a:effectLst/>
                  <a:latin typeface="Source Sans Pro" panose="020B0503030403020204" pitchFamily="34" charset="0"/>
                  <a:hlinkClick r:id="rId8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A.E.Wilczynska@tudelft.nl</a:t>
              </a:r>
              <a:endParaRPr lang="nl-NL" dirty="0">
                <a:solidFill>
                  <a:schemeClr val="accent2"/>
                </a:solidFill>
              </a:endParaRPr>
            </a:p>
          </p:txBody>
        </p:sp>
      </p:grpSp>
      <p:sp>
        <p:nvSpPr>
          <p:cNvPr id="14" name="Google Shape;1070;p43">
            <a:extLst>
              <a:ext uri="{FF2B5EF4-FFF2-40B4-BE49-F238E27FC236}">
                <a16:creationId xmlns:a16="http://schemas.microsoft.com/office/drawing/2014/main" id="{D319950B-D410-9D9B-C55C-AAF52AC0CF1E}"/>
              </a:ext>
            </a:extLst>
          </p:cNvPr>
          <p:cNvSpPr txBox="1">
            <a:spLocks/>
          </p:cNvSpPr>
          <p:nvPr/>
        </p:nvSpPr>
        <p:spPr>
          <a:xfrm>
            <a:off x="3879917" y="660832"/>
            <a:ext cx="4432166" cy="1073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spcBef>
                <a:spcPts val="0"/>
              </a:spcBef>
            </a:pPr>
            <a:r>
              <a:rPr lang="en-US" sz="4000" kern="0" dirty="0"/>
              <a:t>Who are we</a:t>
            </a:r>
          </a:p>
        </p:txBody>
      </p:sp>
    </p:spTree>
    <p:extLst>
      <p:ext uri="{BB962C8B-B14F-4D97-AF65-F5344CB8AC3E}">
        <p14:creationId xmlns:p14="http://schemas.microsoft.com/office/powerpoint/2010/main" val="31813488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068">
          <a:extLst>
            <a:ext uri="{FF2B5EF4-FFF2-40B4-BE49-F238E27FC236}">
              <a16:creationId xmlns:a16="http://schemas.microsoft.com/office/drawing/2014/main" id="{B50BFC44-2289-3BDA-B431-E2E37FB183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FE63D10B-581B-186B-D483-7FF4147B1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02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70;p43">
            <a:extLst>
              <a:ext uri="{FF2B5EF4-FFF2-40B4-BE49-F238E27FC236}">
                <a16:creationId xmlns:a16="http://schemas.microsoft.com/office/drawing/2014/main" id="{B92B5615-FD5B-6798-E533-CF7593419D93}"/>
              </a:ext>
            </a:extLst>
          </p:cNvPr>
          <p:cNvSpPr txBox="1">
            <a:spLocks/>
          </p:cNvSpPr>
          <p:nvPr/>
        </p:nvSpPr>
        <p:spPr>
          <a:xfrm>
            <a:off x="3710055" y="475912"/>
            <a:ext cx="4432166" cy="1073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2286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Inter Light"/>
              <a:buNone/>
              <a:defRPr sz="6000" b="0" i="0" u="none" strike="noStrike" cap="none">
                <a:solidFill>
                  <a:schemeClr val="dk1"/>
                </a:solidFill>
                <a:latin typeface="Inter Light"/>
                <a:ea typeface="Inter Light"/>
                <a:cs typeface="Inter Light"/>
                <a:sym typeface="Inter Light"/>
              </a:defRPr>
            </a:lvl1pPr>
            <a:lvl2pPr marL="914400" marR="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Arial"/>
              <a:buNone/>
              <a:defRPr sz="60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indent="0" algn="ctr">
              <a:spcBef>
                <a:spcPts val="0"/>
              </a:spcBef>
            </a:pPr>
            <a:r>
              <a:rPr lang="en-US" sz="4000" kern="0" dirty="0"/>
              <a:t>Context</a:t>
            </a:r>
          </a:p>
        </p:txBody>
      </p:sp>
      <p:pic>
        <p:nvPicPr>
          <p:cNvPr id="2" name="Picture 1" descr="CLDT hex sticker">
            <a:extLst>
              <a:ext uri="{FF2B5EF4-FFF2-40B4-BE49-F238E27FC236}">
                <a16:creationId xmlns:a16="http://schemas.microsoft.com/office/drawing/2014/main" id="{2747AB1E-A41B-5245-F28F-3EE070F09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85985" y="1526608"/>
            <a:ext cx="1643966" cy="189056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AF7DC1B-5504-9205-2595-150766881EB6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1892" b="50953"/>
          <a:stretch>
            <a:fillRect/>
          </a:stretch>
        </p:blipFill>
        <p:spPr>
          <a:xfrm>
            <a:off x="600392" y="3472183"/>
            <a:ext cx="2852962" cy="14104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D1E1DB4-434C-D794-BE22-2391DD075FA1}"/>
              </a:ext>
            </a:extLst>
          </p:cNvPr>
          <p:cNvSpPr txBox="1"/>
          <p:nvPr/>
        </p:nvSpPr>
        <p:spPr>
          <a:xfrm>
            <a:off x="363597" y="5008038"/>
            <a:ext cx="33265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Domain specific training needs</a:t>
            </a:r>
            <a:endParaRPr lang="nl-NL" i="1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A5451EB1-E50F-1EB1-38D2-9A213A293F9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1809" y="1877617"/>
            <a:ext cx="3429000" cy="1212205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7AB7B5A7-667A-14C5-85C0-DF4ABD78BDF4}"/>
              </a:ext>
            </a:extLst>
          </p:cNvPr>
          <p:cNvSpPr txBox="1"/>
          <p:nvPr/>
        </p:nvSpPr>
        <p:spPr>
          <a:xfrm>
            <a:off x="4344988" y="3293092"/>
            <a:ext cx="34290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A national need on </a:t>
            </a:r>
            <a:br>
              <a:rPr lang="en-US" i="1" dirty="0"/>
            </a:br>
            <a:r>
              <a:rPr lang="nl-NL" i="1" dirty="0" err="1"/>
              <a:t>having</a:t>
            </a:r>
            <a:r>
              <a:rPr lang="nl-NL" i="1" dirty="0"/>
              <a:t> best </a:t>
            </a:r>
            <a:r>
              <a:rPr lang="nl-NL" i="1" dirty="0" err="1"/>
              <a:t>practices</a:t>
            </a:r>
            <a:r>
              <a:rPr lang="nl-NL" i="1" dirty="0"/>
              <a:t> </a:t>
            </a:r>
            <a:r>
              <a:rPr lang="nl-NL" i="1" dirty="0" err="1"/>
              <a:t>to</a:t>
            </a:r>
            <a:r>
              <a:rPr lang="nl-NL" i="1" dirty="0"/>
              <a:t> </a:t>
            </a:r>
            <a:r>
              <a:rPr lang="nl-NL" i="1" dirty="0" err="1"/>
              <a:t>embed</a:t>
            </a:r>
            <a:r>
              <a:rPr lang="nl-NL" i="1" dirty="0"/>
              <a:t> </a:t>
            </a:r>
            <a:r>
              <a:rPr lang="nl-NL" i="1" dirty="0" err="1"/>
              <a:t>interoperability</a:t>
            </a:r>
            <a:r>
              <a:rPr lang="nl-NL" i="1" dirty="0"/>
              <a:t> </a:t>
            </a:r>
            <a:r>
              <a:rPr lang="nl-NL" i="1" dirty="0" err="1"/>
              <a:t>into</a:t>
            </a:r>
            <a:r>
              <a:rPr lang="nl-NL" i="1" dirty="0"/>
              <a:t> </a:t>
            </a:r>
            <a:r>
              <a:rPr lang="nl-NL" i="1" dirty="0" err="1"/>
              <a:t>everyday</a:t>
            </a:r>
            <a:r>
              <a:rPr lang="nl-NL" i="1" dirty="0"/>
              <a:t> research </a:t>
            </a:r>
            <a:r>
              <a:rPr lang="nl-NL" i="1" dirty="0" err="1"/>
              <a:t>workflows</a:t>
            </a:r>
            <a:r>
              <a:rPr lang="nl-NL" i="1" dirty="0"/>
              <a:t> of different disciplines.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620724FC-92F4-3CE4-0E08-BA3776996E2C}"/>
              </a:ext>
            </a:extLst>
          </p:cNvPr>
          <p:cNvGrpSpPr/>
          <p:nvPr/>
        </p:nvGrpSpPr>
        <p:grpSpPr>
          <a:xfrm>
            <a:off x="190441" y="1896885"/>
            <a:ext cx="4184159" cy="1173669"/>
            <a:chOff x="4238566" y="1720403"/>
            <a:chExt cx="4184159" cy="1173669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BB8B5A3-7617-A686-73E7-15E30EDA5136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646132" y="1720403"/>
              <a:ext cx="3018806" cy="875763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F83B3453-0055-BBDA-E50B-B5C78AA1EA75}"/>
                </a:ext>
              </a:extLst>
            </p:cNvPr>
            <p:cNvSpPr txBox="1"/>
            <p:nvPr/>
          </p:nvSpPr>
          <p:spPr>
            <a:xfrm>
              <a:off x="4238566" y="2640156"/>
              <a:ext cx="4184159" cy="25391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50" i="1" dirty="0"/>
                <a:t>The repository for Natural , Engineering and Design sciences in NL</a:t>
              </a:r>
              <a:endParaRPr lang="nl-NL" sz="1050" i="1" dirty="0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9C375488-28CC-C411-E63C-EBAC4C15461C}"/>
              </a:ext>
            </a:extLst>
          </p:cNvPr>
          <p:cNvSpPr txBox="1"/>
          <p:nvPr/>
        </p:nvSpPr>
        <p:spPr>
          <a:xfrm>
            <a:off x="8903747" y="3429000"/>
            <a:ext cx="284057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i="1" dirty="0"/>
              <a:t> Opportunity</a:t>
            </a:r>
            <a:br>
              <a:rPr lang="nl-NL" i="1" dirty="0"/>
            </a:br>
            <a:r>
              <a:rPr lang="nl-NL" i="1" dirty="0" err="1"/>
              <a:t>to</a:t>
            </a:r>
            <a:r>
              <a:rPr lang="nl-NL" i="1" dirty="0"/>
              <a:t> </a:t>
            </a:r>
            <a:r>
              <a:rPr lang="nl-NL" i="1" dirty="0" err="1"/>
              <a:t>build</a:t>
            </a:r>
            <a:r>
              <a:rPr lang="nl-NL" i="1" dirty="0"/>
              <a:t> </a:t>
            </a:r>
            <a:r>
              <a:rPr lang="nl-NL" i="1" dirty="0" err="1"/>
              <a:t>accessible</a:t>
            </a:r>
            <a:r>
              <a:rPr lang="nl-NL" i="1" dirty="0"/>
              <a:t>, </a:t>
            </a:r>
            <a:r>
              <a:rPr lang="nl-NL" i="1" dirty="0" err="1"/>
              <a:t>and</a:t>
            </a:r>
            <a:r>
              <a:rPr lang="nl-NL" i="1" dirty="0"/>
              <a:t> </a:t>
            </a:r>
            <a:r>
              <a:rPr lang="nl-NL" i="1" dirty="0" err="1"/>
              <a:t>reusable</a:t>
            </a:r>
            <a:r>
              <a:rPr lang="nl-NL" i="1" dirty="0"/>
              <a:t> </a:t>
            </a:r>
            <a:r>
              <a:rPr lang="nl-NL" i="1" dirty="0" err="1"/>
              <a:t>lesson</a:t>
            </a:r>
            <a:r>
              <a:rPr lang="nl-NL" i="1" dirty="0"/>
              <a:t> </a:t>
            </a:r>
            <a:r>
              <a:rPr lang="nl-NL" i="1" dirty="0" err="1"/>
              <a:t>materials</a:t>
            </a:r>
            <a:br>
              <a:rPr lang="nl-NL" i="1" dirty="0"/>
            </a:br>
            <a:r>
              <a:rPr lang="nl-NL" i="1" dirty="0" err="1"/>
              <a:t>for</a:t>
            </a:r>
            <a:r>
              <a:rPr lang="nl-NL" i="1" dirty="0"/>
              <a:t> </a:t>
            </a:r>
            <a:r>
              <a:rPr lang="nl-NL" i="1" dirty="0" err="1"/>
              <a:t>the</a:t>
            </a:r>
            <a:r>
              <a:rPr lang="nl-NL" i="1" dirty="0"/>
              <a:t> community</a:t>
            </a:r>
          </a:p>
        </p:txBody>
      </p:sp>
    </p:spTree>
    <p:extLst>
      <p:ext uri="{BB962C8B-B14F-4D97-AF65-F5344CB8AC3E}">
        <p14:creationId xmlns:p14="http://schemas.microsoft.com/office/powerpoint/2010/main" val="32404684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8" grpId="0"/>
      <p:bldP spid="21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068">
          <a:extLst>
            <a:ext uri="{FF2B5EF4-FFF2-40B4-BE49-F238E27FC236}">
              <a16:creationId xmlns:a16="http://schemas.microsoft.com/office/drawing/2014/main" id="{FF6B2AD0-7EA6-1F7B-8CBF-BE091247F3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3">
            <a:extLst>
              <a:ext uri="{FF2B5EF4-FFF2-40B4-BE49-F238E27FC236}">
                <a16:creationId xmlns:a16="http://schemas.microsoft.com/office/drawing/2014/main" id="{9BF8F1AD-8AA3-F131-9E84-2BDCA694A13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7800" y="191039"/>
            <a:ext cx="117633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US" sz="4000" dirty="0"/>
              <a:t>Interoperability in Climate and Atmospheric sciences</a:t>
            </a:r>
            <a:endParaRPr sz="4000" dirty="0"/>
          </a:p>
        </p:txBody>
      </p:sp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BC811FB8-731D-52EC-9642-D657E15492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02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3558BB4-0110-4CF4-0904-BCAF13347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09750" y="1976460"/>
            <a:ext cx="8800683" cy="407561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6F5D07-9AFB-71F1-2E61-255C7821A709}"/>
              </a:ext>
            </a:extLst>
          </p:cNvPr>
          <p:cNvSpPr txBox="1"/>
          <p:nvPr/>
        </p:nvSpPr>
        <p:spPr>
          <a:xfrm>
            <a:off x="1809749" y="6052071"/>
            <a:ext cx="880068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nl-NL" sz="1600" dirty="0">
                <a:solidFill>
                  <a:schemeClr val="accent2"/>
                </a:solidFill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https://4turesearchdata-carpentries.github.io/interoperability-climate-sciences/index.html</a:t>
            </a:r>
            <a:endParaRPr lang="nl-NL" sz="1600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40198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/>
        </a:solidFill>
        <a:effectLst/>
      </p:bgPr>
    </p:bg>
    <p:spTree>
      <p:nvGrpSpPr>
        <p:cNvPr id="1" name="Shape 1068">
          <a:extLst>
            <a:ext uri="{FF2B5EF4-FFF2-40B4-BE49-F238E27FC236}">
              <a16:creationId xmlns:a16="http://schemas.microsoft.com/office/drawing/2014/main" id="{746A5CEA-E1EC-4974-387A-85BE377964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0" name="Google Shape;1070;p43">
            <a:extLst>
              <a:ext uri="{FF2B5EF4-FFF2-40B4-BE49-F238E27FC236}">
                <a16:creationId xmlns:a16="http://schemas.microsoft.com/office/drawing/2014/main" id="{381B7EE1-4203-218E-08F5-F2CADABD24E5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177800" y="191039"/>
            <a:ext cx="1176337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None/>
            </a:pPr>
            <a:r>
              <a:rPr lang="en-US" sz="4000" dirty="0"/>
              <a:t>Interoperability in Climate and Atmospheric sciences</a:t>
            </a:r>
            <a:endParaRPr sz="4000" dirty="0"/>
          </a:p>
        </p:txBody>
      </p:sp>
      <p:pic>
        <p:nvPicPr>
          <p:cNvPr id="1073" name="Google Shape;1073;p43" descr="Ein Bild, das Grafiken, Muster, Design enthält.&#10;&#10;KI-generierte Inhalte können fehlerhaft sein.">
            <a:extLst>
              <a:ext uri="{FF2B5EF4-FFF2-40B4-BE49-F238E27FC236}">
                <a16:creationId xmlns:a16="http://schemas.microsoft.com/office/drawing/2014/main" id="{672D147D-2BC8-9884-D3B5-53B2C19A29E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0277" y="260626"/>
            <a:ext cx="752058" cy="75205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A208B31-229A-5977-E474-BB83300CA867}"/>
              </a:ext>
            </a:extLst>
          </p:cNvPr>
          <p:cNvSpPr txBox="1"/>
          <p:nvPr/>
        </p:nvSpPr>
        <p:spPr>
          <a:xfrm>
            <a:off x="2143566" y="3505200"/>
            <a:ext cx="846218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/>
              <a:t>Today is the Pilot of the lesson, thanks for participating! </a:t>
            </a:r>
            <a:endParaRPr lang="nl-NL" sz="2400" b="1" dirty="0"/>
          </a:p>
        </p:txBody>
      </p:sp>
    </p:spTree>
    <p:extLst>
      <p:ext uri="{BB962C8B-B14F-4D97-AF65-F5344CB8AC3E}">
        <p14:creationId xmlns:p14="http://schemas.microsoft.com/office/powerpoint/2010/main" val="4256827951"/>
      </p:ext>
    </p:extLst>
  </p:cSld>
  <p:clrMapOvr>
    <a:masterClrMapping/>
  </p:clrMapOvr>
</p:sld>
</file>

<file path=ppt/theme/theme1.xml><?xml version="1.0" encoding="utf-8"?>
<a:theme xmlns:a="http://schemas.openxmlformats.org/drawingml/2006/main" name="Inbetween Title Slides">
  <a:themeElements>
    <a:clrScheme name="4TU.ResearchData">
      <a:dk1>
        <a:srgbClr val="3C3C3C"/>
      </a:dk1>
      <a:lt1>
        <a:srgbClr val="FBF5E9"/>
      </a:lt1>
      <a:dk2>
        <a:srgbClr val="FFFFFF"/>
      </a:dk2>
      <a:lt2>
        <a:srgbClr val="FFFFFF"/>
      </a:lt2>
      <a:accent1>
        <a:srgbClr val="F29100"/>
      </a:accent1>
      <a:accent2>
        <a:srgbClr val="FF6829"/>
      </a:accent2>
      <a:accent3>
        <a:srgbClr val="B9DBEF"/>
      </a:accent3>
      <a:accent4>
        <a:srgbClr val="969696"/>
      </a:accent4>
      <a:accent5>
        <a:srgbClr val="F29100"/>
      </a:accent5>
      <a:accent6>
        <a:srgbClr val="F29100"/>
      </a:accent6>
      <a:hlink>
        <a:srgbClr val="FFFFFF"/>
      </a:hlink>
      <a:folHlink>
        <a:srgbClr val="FFFF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163</Words>
  <Application>Microsoft Office PowerPoint</Application>
  <PresentationFormat>Widescreen</PresentationFormat>
  <Paragraphs>18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1" baseType="lpstr">
      <vt:lpstr>Aptos</vt:lpstr>
      <vt:lpstr>Arial</vt:lpstr>
      <vt:lpstr>Inter Light</vt:lpstr>
      <vt:lpstr>Source Sans Pro</vt:lpstr>
      <vt:lpstr>Space Grotesk</vt:lpstr>
      <vt:lpstr>Inbetween Title Slides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Leila Iñigo de la Cruz</dc:creator>
  <cp:lastModifiedBy>Leila Iñigo de la Cruz</cp:lastModifiedBy>
  <cp:revision>1</cp:revision>
  <dcterms:created xsi:type="dcterms:W3CDTF">2026-08-27T11:20:21Z</dcterms:created>
  <dcterms:modified xsi:type="dcterms:W3CDTF">2026-08-27T12:20:19Z</dcterms:modified>
</cp:coreProperties>
</file>