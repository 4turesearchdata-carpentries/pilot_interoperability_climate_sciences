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313" r:id="rId2"/>
    <p:sldId id="314" r:id="rId3"/>
    <p:sldId id="315" r:id="rId4"/>
    <p:sldId id="316" r:id="rId5"/>
    <p:sldId id="317" r:id="rId6"/>
    <p:sldId id="318" r:id="rId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24E321-BDB4-486E-9B3A-95C70B9DC86E}" v="1" dt="2026-08-27T12:35:34.4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108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la Iñigo de la Cruz" userId="fae4ed0d-52e1-4e8b-ac73-77e0b7235c9a" providerId="ADAL" clId="{1E9E03C1-E5D4-4BEC-8EBD-C4DD5262B379}"/>
    <pc:docChg chg="addSld modSld">
      <pc:chgData name="Leila Iñigo de la Cruz" userId="fae4ed0d-52e1-4e8b-ac73-77e0b7235c9a" providerId="ADAL" clId="{1E9E03C1-E5D4-4BEC-8EBD-C4DD5262B379}" dt="2026-08-27T12:36:02.392" v="29" actId="1076"/>
      <pc:docMkLst>
        <pc:docMk/>
      </pc:docMkLst>
      <pc:sldChg chg="addSp modSp add mod">
        <pc:chgData name="Leila Iñigo de la Cruz" userId="fae4ed0d-52e1-4e8b-ac73-77e0b7235c9a" providerId="ADAL" clId="{1E9E03C1-E5D4-4BEC-8EBD-C4DD5262B379}" dt="2026-08-27T12:36:02.392" v="29" actId="1076"/>
        <pc:sldMkLst>
          <pc:docMk/>
          <pc:sldMk cId="3650722268" sldId="318"/>
        </pc:sldMkLst>
        <pc:spChg chg="mod">
          <ac:chgData name="Leila Iñigo de la Cruz" userId="fae4ed0d-52e1-4e8b-ac73-77e0b7235c9a" providerId="ADAL" clId="{1E9E03C1-E5D4-4BEC-8EBD-C4DD5262B379}" dt="2026-08-27T12:35:15.433" v="14" actId="1076"/>
          <ac:spMkLst>
            <pc:docMk/>
            <pc:sldMk cId="3650722268" sldId="318"/>
            <ac:spMk id="2" creationId="{DC4C838E-9A67-4F50-A20C-14201FB1A556}"/>
          </ac:spMkLst>
        </pc:spChg>
        <pc:spChg chg="add mod">
          <ac:chgData name="Leila Iñigo de la Cruz" userId="fae4ed0d-52e1-4e8b-ac73-77e0b7235c9a" providerId="ADAL" clId="{1E9E03C1-E5D4-4BEC-8EBD-C4DD5262B379}" dt="2026-08-27T12:36:00.345" v="28" actId="1076"/>
          <ac:spMkLst>
            <pc:docMk/>
            <pc:sldMk cId="3650722268" sldId="318"/>
            <ac:spMk id="4" creationId="{607898FB-D521-F955-4EFF-B45FDED2867C}"/>
          </ac:spMkLst>
        </pc:spChg>
        <pc:picChg chg="add mod">
          <ac:chgData name="Leila Iñigo de la Cruz" userId="fae4ed0d-52e1-4e8b-ac73-77e0b7235c9a" providerId="ADAL" clId="{1E9E03C1-E5D4-4BEC-8EBD-C4DD5262B379}" dt="2026-08-27T12:36:02.392" v="29" actId="1076"/>
          <ac:picMkLst>
            <pc:docMk/>
            <pc:sldMk cId="3650722268" sldId="318"/>
            <ac:picMk id="5" creationId="{4345FF79-A0AD-8627-D71F-B4226710695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520C8-845C-4FE0-9458-B6264FF730C8}" type="datetimeFigureOut">
              <a:rPr lang="nl-NL" smtClean="0"/>
              <a:t>27-8-2026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01E20-6382-40C6-B9BD-CBC37085D84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673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C82A3931-C8FB-9179-7EA6-E0F056F18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4AD38DB6-BA2F-3BD6-2FBB-B40A8424E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2E852F3B-A4BB-3C13-75F6-FC2A5A0CE1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487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96DE34D1-79B9-B41E-8C02-B59918A11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9E4F2330-04B8-D58D-FA0F-2A165AEA9D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9F7A8982-9E4C-0120-A724-EF7882CEEA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13221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8F40822B-8458-4D60-F4AD-D967352EA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811AC60E-9D0B-A710-99F1-272E63A999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We have many </a:t>
            </a:r>
            <a:r>
              <a:rPr lang="en-US" dirty="0" err="1"/>
              <a:t>inititiaves</a:t>
            </a:r>
            <a:r>
              <a:rPr lang="en-US" dirty="0"/>
              <a:t> in the NL that revolves around building awareness on interoperability from a specific discipline standpoint</a:t>
            </a: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43DDF087-2895-7558-D0F2-BB2E20C842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27334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30A55002-52BC-AD69-8556-81218E076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4974B704-A7B9-D709-637C-80DE73DC3D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237DEF10-419B-AC43-776B-B0DE8F289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92336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B482E231-C714-E3B7-FD60-08992091B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69BD8AC3-1768-3112-58F4-35EA08783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3AE9234A-AE7E-FAA5-397E-1702635654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32001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16CEECED-96B3-2BA6-020C-B7EAA90AD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E88659B3-AF37-8D89-0553-3881A21B2A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C26FD5CB-CF34-BF4A-234F-8B1A403D28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1113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1">
  <p:cSld name="Inbetween Title 01">
    <p:bg>
      <p:bgPr>
        <a:solidFill>
          <a:schemeClr val="accent5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13"/>
          <p:cNvSpPr txBox="1">
            <a:spLocks noGrp="1"/>
          </p:cNvSpPr>
          <p:nvPr>
            <p:ph type="body" idx="1"/>
          </p:nvPr>
        </p:nvSpPr>
        <p:spPr>
          <a:xfrm>
            <a:off x="149841" y="4826000"/>
            <a:ext cx="7020600" cy="1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5" name="Google Shape;385;p113"/>
          <p:cNvSpPr txBox="1">
            <a:spLocks noGrp="1"/>
          </p:cNvSpPr>
          <p:nvPr>
            <p:ph type="body" idx="2"/>
          </p:nvPr>
        </p:nvSpPr>
        <p:spPr>
          <a:xfrm>
            <a:off x="152400" y="2343150"/>
            <a:ext cx="72867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6" name="Google Shape;386;p113"/>
          <p:cNvSpPr txBox="1">
            <a:spLocks noGrp="1"/>
          </p:cNvSpPr>
          <p:nvPr>
            <p:ph type="body" idx="3"/>
          </p:nvPr>
        </p:nvSpPr>
        <p:spPr>
          <a:xfrm>
            <a:off x="1936750" y="6473707"/>
            <a:ext cx="4673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7" name="Google Shape;387;p113"/>
          <p:cNvSpPr txBox="1">
            <a:spLocks noGrp="1"/>
          </p:cNvSpPr>
          <p:nvPr>
            <p:ph type="body" idx="4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2029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2">
  <p:cSld name="Inbetween Title 02">
    <p:bg>
      <p:bgPr>
        <a:solidFill>
          <a:schemeClr val="accent5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14"/>
          <p:cNvSpPr txBox="1">
            <a:spLocks noGrp="1"/>
          </p:cNvSpPr>
          <p:nvPr>
            <p:ph type="body" idx="1"/>
          </p:nvPr>
        </p:nvSpPr>
        <p:spPr>
          <a:xfrm>
            <a:off x="149841" y="4826000"/>
            <a:ext cx="7020529" cy="1621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0" name="Google Shape;390;p114"/>
          <p:cNvSpPr txBox="1">
            <a:spLocks noGrp="1"/>
          </p:cNvSpPr>
          <p:nvPr>
            <p:ph type="body" idx="2"/>
          </p:nvPr>
        </p:nvSpPr>
        <p:spPr>
          <a:xfrm>
            <a:off x="1419225" y="2343150"/>
            <a:ext cx="72867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1" name="Google Shape;391;p114"/>
          <p:cNvSpPr txBox="1">
            <a:spLocks noGrp="1"/>
          </p:cNvSpPr>
          <p:nvPr>
            <p:ph type="body" idx="3"/>
          </p:nvPr>
        </p:nvSpPr>
        <p:spPr>
          <a:xfrm>
            <a:off x="130791" y="2343149"/>
            <a:ext cx="1190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2" name="Google Shape;392;p114"/>
          <p:cNvSpPr txBox="1">
            <a:spLocks noGrp="1"/>
          </p:cNvSpPr>
          <p:nvPr>
            <p:ph type="body" idx="4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114"/>
          <p:cNvSpPr txBox="1">
            <a:spLocks noGrp="1"/>
          </p:cNvSpPr>
          <p:nvPr>
            <p:ph type="body" idx="5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1212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3">
  <p:cSld name="Inbetween Title 03">
    <p:bg>
      <p:bgPr>
        <a:solidFill>
          <a:schemeClr val="accent5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15"/>
          <p:cNvSpPr txBox="1">
            <a:spLocks noGrp="1"/>
          </p:cNvSpPr>
          <p:nvPr>
            <p:ph type="body" idx="1"/>
          </p:nvPr>
        </p:nvSpPr>
        <p:spPr>
          <a:xfrm>
            <a:off x="152400" y="2343150"/>
            <a:ext cx="7286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6" name="Google Shape;396;p115"/>
          <p:cNvSpPr txBox="1">
            <a:spLocks noGrp="1"/>
          </p:cNvSpPr>
          <p:nvPr>
            <p:ph type="body" idx="2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256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4">
  <p:cSld name="Inbetween Title 04">
    <p:bg>
      <p:bgPr>
        <a:solidFill>
          <a:schemeClr val="accent5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16"/>
          <p:cNvSpPr txBox="1">
            <a:spLocks noGrp="1"/>
          </p:cNvSpPr>
          <p:nvPr>
            <p:ph type="body" idx="1"/>
          </p:nvPr>
        </p:nvSpPr>
        <p:spPr>
          <a:xfrm>
            <a:off x="1419225" y="2343150"/>
            <a:ext cx="7286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9" name="Google Shape;399;p116"/>
          <p:cNvSpPr txBox="1">
            <a:spLocks noGrp="1"/>
          </p:cNvSpPr>
          <p:nvPr>
            <p:ph type="body" idx="2"/>
          </p:nvPr>
        </p:nvSpPr>
        <p:spPr>
          <a:xfrm>
            <a:off x="130791" y="2343149"/>
            <a:ext cx="1190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0" name="Google Shape;400;p116"/>
          <p:cNvSpPr txBox="1">
            <a:spLocks noGrp="1"/>
          </p:cNvSpPr>
          <p:nvPr>
            <p:ph type="body" idx="3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029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5">
  <p:cSld name="Inbetween Title 05">
    <p:bg>
      <p:bgPr>
        <a:solidFill>
          <a:schemeClr val="accent5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7"/>
          <p:cNvSpPr txBox="1">
            <a:spLocks noGrp="1"/>
          </p:cNvSpPr>
          <p:nvPr>
            <p:ph type="body" idx="1"/>
          </p:nvPr>
        </p:nvSpPr>
        <p:spPr>
          <a:xfrm>
            <a:off x="152400" y="552451"/>
            <a:ext cx="7286625" cy="872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3" name="Google Shape;403;p117"/>
          <p:cNvSpPr/>
          <p:nvPr/>
        </p:nvSpPr>
        <p:spPr>
          <a:xfrm>
            <a:off x="251099" y="1536361"/>
            <a:ext cx="45719" cy="45719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7"/>
          <p:cNvSpPr txBox="1">
            <a:spLocks noGrp="1"/>
          </p:cNvSpPr>
          <p:nvPr>
            <p:ph type="body" idx="2"/>
          </p:nvPr>
        </p:nvSpPr>
        <p:spPr>
          <a:xfrm>
            <a:off x="251099" y="1470320"/>
            <a:ext cx="3560201" cy="18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5" name="Google Shape;405;p117"/>
          <p:cNvSpPr txBox="1">
            <a:spLocks noGrp="1"/>
          </p:cNvSpPr>
          <p:nvPr>
            <p:ph type="body" idx="3"/>
          </p:nvPr>
        </p:nvSpPr>
        <p:spPr>
          <a:xfrm>
            <a:off x="149842" y="1722628"/>
            <a:ext cx="4431683" cy="594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6" name="Google Shape;406;p117"/>
          <p:cNvSpPr txBox="1">
            <a:spLocks noGrp="1"/>
          </p:cNvSpPr>
          <p:nvPr>
            <p:ph type="body" idx="4"/>
          </p:nvPr>
        </p:nvSpPr>
        <p:spPr>
          <a:xfrm>
            <a:off x="154971" y="4540926"/>
            <a:ext cx="5941029" cy="1883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Light"/>
              <a:buNone/>
              <a:defRPr sz="11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7" name="Google Shape;407;p117"/>
          <p:cNvSpPr txBox="1">
            <a:spLocks noGrp="1"/>
          </p:cNvSpPr>
          <p:nvPr>
            <p:ph type="body" idx="5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117"/>
          <p:cNvSpPr/>
          <p:nvPr/>
        </p:nvSpPr>
        <p:spPr>
          <a:xfrm>
            <a:off x="249799" y="285269"/>
            <a:ext cx="80912" cy="8091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17"/>
          <p:cNvSpPr txBox="1">
            <a:spLocks noGrp="1"/>
          </p:cNvSpPr>
          <p:nvPr>
            <p:ph type="body" idx="6"/>
          </p:nvPr>
        </p:nvSpPr>
        <p:spPr>
          <a:xfrm>
            <a:off x="290255" y="201884"/>
            <a:ext cx="24082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8292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6">
  <p:cSld name="Inbetween Title 06">
    <p:bg>
      <p:bgPr>
        <a:solidFill>
          <a:srgbClr val="F29100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18"/>
          <p:cNvSpPr txBox="1">
            <a:spLocks noGrp="1"/>
          </p:cNvSpPr>
          <p:nvPr>
            <p:ph type="body" idx="1"/>
          </p:nvPr>
        </p:nvSpPr>
        <p:spPr>
          <a:xfrm>
            <a:off x="4733926" y="5952792"/>
            <a:ext cx="6177280" cy="49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 sz="14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2" name="Google Shape;412;p118"/>
          <p:cNvSpPr txBox="1">
            <a:spLocks noGrp="1"/>
          </p:cNvSpPr>
          <p:nvPr>
            <p:ph type="body" idx="2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3" name="Google Shape;413;p118"/>
          <p:cNvSpPr txBox="1">
            <a:spLocks noGrp="1"/>
          </p:cNvSpPr>
          <p:nvPr>
            <p:ph type="body" idx="3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861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7">
  <p:cSld name="Inbetween Title 07">
    <p:bg>
      <p:bgPr>
        <a:solidFill>
          <a:schemeClr val="accent5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19"/>
          <p:cNvSpPr txBox="1">
            <a:spLocks noGrp="1"/>
          </p:cNvSpPr>
          <p:nvPr>
            <p:ph type="body" idx="1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6" name="Google Shape;416;p119"/>
          <p:cNvSpPr txBox="1">
            <a:spLocks noGrp="1"/>
          </p:cNvSpPr>
          <p:nvPr>
            <p:ph type="body" idx="2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7" name="Google Shape;417;p119"/>
          <p:cNvSpPr txBox="1">
            <a:spLocks noGrp="1"/>
          </p:cNvSpPr>
          <p:nvPr>
            <p:ph type="body" idx="3"/>
          </p:nvPr>
        </p:nvSpPr>
        <p:spPr>
          <a:xfrm>
            <a:off x="149842" y="4826000"/>
            <a:ext cx="5705476" cy="1621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8" name="Google Shape;418;p119"/>
          <p:cNvSpPr txBox="1">
            <a:spLocks noGrp="1"/>
          </p:cNvSpPr>
          <p:nvPr>
            <p:ph type="body" idx="4"/>
          </p:nvPr>
        </p:nvSpPr>
        <p:spPr>
          <a:xfrm>
            <a:off x="152400" y="2343150"/>
            <a:ext cx="570547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9" name="Google Shape;419;p119"/>
          <p:cNvSpPr>
            <a:spLocks noGrp="1"/>
          </p:cNvSpPr>
          <p:nvPr>
            <p:ph type="pic" idx="5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119"/>
          <p:cNvSpPr/>
          <p:nvPr/>
        </p:nvSpPr>
        <p:spPr>
          <a:xfrm>
            <a:off x="249799" y="285269"/>
            <a:ext cx="80912" cy="8091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19"/>
          <p:cNvSpPr txBox="1">
            <a:spLocks noGrp="1"/>
          </p:cNvSpPr>
          <p:nvPr>
            <p:ph type="body" idx="6"/>
          </p:nvPr>
        </p:nvSpPr>
        <p:spPr>
          <a:xfrm>
            <a:off x="290255" y="201884"/>
            <a:ext cx="24082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2260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539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794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822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2"/>
          <p:cNvSpPr txBox="1"/>
          <p:nvPr/>
        </p:nvSpPr>
        <p:spPr>
          <a:xfrm>
            <a:off x="163758" y="6463552"/>
            <a:ext cx="1188792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de-DE"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rPr>
              <a:t>4TU.RESEARCH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629028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mailto:A.E.Wylczynska@tudelft.nl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L.M.InigoDeLaCruz@tudelft.nl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4turesearchdata-carpentries.github.io/interoperability-climate-sciences/index.html" TargetMode="Externa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hyperlink" Target="https://vevox.app/#/m/14437281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D54E01BA-46E1-A188-E86D-2BDF0365F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43">
            <a:extLst>
              <a:ext uri="{FF2B5EF4-FFF2-40B4-BE49-F238E27FC236}">
                <a16:creationId xmlns:a16="http://schemas.microsoft.com/office/drawing/2014/main" id="{871C7448-7A50-2C57-6073-EB86A1615C8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64077" y="636655"/>
            <a:ext cx="1176337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n-US" sz="4000" dirty="0"/>
              <a:t>Interoperability in Climate and Atmospheric sciences</a:t>
            </a:r>
            <a:endParaRPr sz="4000" dirty="0"/>
          </a:p>
        </p:txBody>
      </p:sp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618B9F0E-E06D-F716-AE71-C588FBE249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2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70;p43">
            <a:extLst>
              <a:ext uri="{FF2B5EF4-FFF2-40B4-BE49-F238E27FC236}">
                <a16:creationId xmlns:a16="http://schemas.microsoft.com/office/drawing/2014/main" id="{F27C4388-0FB1-755F-7D32-E87CE1598747}"/>
              </a:ext>
            </a:extLst>
          </p:cNvPr>
          <p:cNvSpPr txBox="1">
            <a:spLocks/>
          </p:cNvSpPr>
          <p:nvPr/>
        </p:nvSpPr>
        <p:spPr>
          <a:xfrm>
            <a:off x="3009900" y="1677484"/>
            <a:ext cx="5753100" cy="1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6000"/>
              <a:buFont typeface="Inter Light"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Inter Light"/>
                <a:sym typeface="Inter Light"/>
              </a:rPr>
              <a:t>FAIR </a:t>
            </a:r>
            <a:r>
              <a:rPr kumimoji="0" lang="en-US" sz="3600" b="0" i="0" u="none" strike="noStrike" kern="0" cap="none" spc="0" normalizeH="0" baseline="0" noProof="0" dirty="0" err="1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Inter Light"/>
                <a:sym typeface="Inter Light"/>
              </a:rPr>
              <a:t>NetCDF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Inter Light"/>
                <a:sym typeface="Inter Light"/>
              </a:rPr>
              <a:t>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C33FDE-1DCE-12C6-9135-F3E3CEF2A953}"/>
              </a:ext>
            </a:extLst>
          </p:cNvPr>
          <p:cNvSpPr txBox="1"/>
          <p:nvPr/>
        </p:nvSpPr>
        <p:spPr>
          <a:xfrm>
            <a:off x="4749082" y="3342900"/>
            <a:ext cx="25138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Pilot workshop</a:t>
            </a:r>
          </a:p>
          <a:p>
            <a:pPr algn="ctr"/>
            <a:endParaRPr lang="en-US" sz="2000" dirty="0"/>
          </a:p>
          <a:p>
            <a:pPr algn="ctr"/>
            <a:r>
              <a:rPr lang="en-US" sz="2000" b="1" dirty="0"/>
              <a:t>October 22</a:t>
            </a:r>
            <a:r>
              <a:rPr lang="en-US" sz="2000" b="1" baseline="30000" dirty="0"/>
              <a:t>nd</a:t>
            </a:r>
            <a:r>
              <a:rPr lang="en-US" sz="2000" b="1" dirty="0"/>
              <a:t> , 2026</a:t>
            </a:r>
            <a:endParaRPr lang="nl-NL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E5E3B4-7866-7471-C4AC-63FBE416E3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474" y="5664876"/>
            <a:ext cx="3321185" cy="96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930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45BBEDDF-D776-CC4A-E881-5471EACC6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760F410D-485A-4F1F-277F-7B78DCB336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2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865FCA-84DA-9167-1FF6-6FEADF3289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474" y="5664876"/>
            <a:ext cx="3321185" cy="96348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2FB38DC-0EB5-7C6F-A308-579C0E4ADE1D}"/>
              </a:ext>
            </a:extLst>
          </p:cNvPr>
          <p:cNvGrpSpPr/>
          <p:nvPr/>
        </p:nvGrpSpPr>
        <p:grpSpPr>
          <a:xfrm>
            <a:off x="1466846" y="1734375"/>
            <a:ext cx="2600325" cy="2710125"/>
            <a:chOff x="1209671" y="1666873"/>
            <a:chExt cx="2600325" cy="271012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811418A-8769-8109-C9FA-6585F6BF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43047" y="1666873"/>
              <a:ext cx="1933575" cy="193357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234B9EA-9C2A-6DC9-4B49-4DCE3DA805BE}"/>
                </a:ext>
              </a:extLst>
            </p:cNvPr>
            <p:cNvSpPr txBox="1"/>
            <p:nvPr/>
          </p:nvSpPr>
          <p:spPr>
            <a:xfrm>
              <a:off x="1209671" y="3730667"/>
              <a:ext cx="26003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nl-NL" sz="1200" b="1" i="0" dirty="0">
                  <a:solidFill>
                    <a:srgbClr val="353535"/>
                  </a:solidFill>
                  <a:effectLst/>
                  <a:latin typeface="Source Sans Pro" panose="020B0503030403020204" pitchFamily="34" charset="0"/>
                </a:rPr>
                <a:t>Leila Iñigo de la Cruz</a:t>
              </a:r>
              <a:br>
                <a:rPr lang="nl-NL" dirty="0"/>
              </a:br>
              <a:r>
                <a:rPr lang="nl-NL" sz="1200" b="0" i="0" dirty="0">
                  <a:solidFill>
                    <a:srgbClr val="353535"/>
                  </a:solidFill>
                  <a:effectLst/>
                  <a:latin typeface="Source Sans Pro" panose="020B0503030403020204" pitchFamily="34" charset="0"/>
                </a:rPr>
                <a:t>Digital </a:t>
              </a:r>
              <a:r>
                <a:rPr lang="nl-NL" sz="1200" b="0" i="0" dirty="0" err="1">
                  <a:solidFill>
                    <a:srgbClr val="353535"/>
                  </a:solidFill>
                  <a:effectLst/>
                  <a:latin typeface="Source Sans Pro" panose="020B0503030403020204" pitchFamily="34" charset="0"/>
                </a:rPr>
                <a:t>Competences</a:t>
              </a:r>
              <a:r>
                <a:rPr lang="nl-NL" sz="1200" b="0" i="0" dirty="0">
                  <a:solidFill>
                    <a:srgbClr val="353535"/>
                  </a:solidFill>
                  <a:effectLst/>
                  <a:latin typeface="Source Sans Pro" panose="020B0503030403020204" pitchFamily="34" charset="0"/>
                </a:rPr>
                <a:t> Trainer</a:t>
              </a:r>
              <a:br>
                <a:rPr lang="nl-NL" dirty="0"/>
              </a:br>
              <a:r>
                <a:rPr lang="nl-NL" sz="1200" b="0" i="0" dirty="0">
                  <a:solidFill>
                    <a:srgbClr val="353535"/>
                  </a:solidFill>
                  <a:effectLst/>
                  <a:latin typeface="Source Sans Pro" panose="020B0503030403020204" pitchFamily="34" charset="0"/>
                </a:rPr>
                <a:t>E: </a:t>
              </a:r>
              <a:r>
                <a:rPr lang="nl-NL" sz="1200" b="0" i="0" u="none" strike="noStrike" dirty="0">
                  <a:solidFill>
                    <a:schemeClr val="accent2"/>
                  </a:solidFill>
                  <a:effectLst/>
                  <a:latin typeface="Source Sans Pro" panose="020B0503030403020204" pitchFamily="34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L.M.InigoDeLaCruz@tudelft.nl</a:t>
              </a:r>
              <a:endParaRPr lang="nl-NL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90A6A0D-F0C5-AA19-FCEC-87B8822285FC}"/>
              </a:ext>
            </a:extLst>
          </p:cNvPr>
          <p:cNvGrpSpPr/>
          <p:nvPr/>
        </p:nvGrpSpPr>
        <p:grpSpPr>
          <a:xfrm>
            <a:off x="8420103" y="1734375"/>
            <a:ext cx="2228850" cy="2642623"/>
            <a:chOff x="7191374" y="1666874"/>
            <a:chExt cx="2228850" cy="264262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7B3E8D2-D2F6-74BF-B3BB-B7890089A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91374" y="1666874"/>
              <a:ext cx="1933575" cy="193357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7799E6-3995-1694-3F6D-3EB5B34FC6BF}"/>
                </a:ext>
              </a:extLst>
            </p:cNvPr>
            <p:cNvSpPr txBox="1"/>
            <p:nvPr/>
          </p:nvSpPr>
          <p:spPr>
            <a:xfrm>
              <a:off x="7191374" y="3663166"/>
              <a:ext cx="22288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nl-NL" sz="1200" b="1" i="0" dirty="0">
                  <a:solidFill>
                    <a:srgbClr val="353535"/>
                  </a:solidFill>
                  <a:effectLst/>
                  <a:latin typeface="Source Sans Pro" panose="020B0503030403020204" pitchFamily="34" charset="0"/>
                </a:rPr>
                <a:t>Aleksandra Wilczynska</a:t>
              </a:r>
              <a:br>
                <a:rPr lang="nl-NL" dirty="0"/>
              </a:br>
              <a:r>
                <a:rPr lang="nl-NL" sz="1200" b="0" i="0" dirty="0">
                  <a:solidFill>
                    <a:srgbClr val="353535"/>
                  </a:solidFill>
                  <a:effectLst/>
                  <a:latin typeface="Source Sans Pro" panose="020B0503030403020204" pitchFamily="34" charset="0"/>
                </a:rPr>
                <a:t>Data Solutions Engineer</a:t>
              </a:r>
              <a:br>
                <a:rPr lang="nl-NL" dirty="0"/>
              </a:br>
              <a:r>
                <a:rPr lang="nl-NL" sz="1200" b="0" i="0" dirty="0">
                  <a:solidFill>
                    <a:srgbClr val="353535"/>
                  </a:solidFill>
                  <a:effectLst/>
                  <a:latin typeface="Source Sans Pro" panose="020B0503030403020204" pitchFamily="34" charset="0"/>
                </a:rPr>
                <a:t>E:</a:t>
              </a:r>
              <a:r>
                <a:rPr lang="nl-NL" sz="1200" b="0" i="0" dirty="0">
                  <a:solidFill>
                    <a:schemeClr val="accent2"/>
                  </a:solidFill>
                  <a:effectLst/>
                  <a:latin typeface="Source Sans Pro" panose="020B0503030403020204" pitchFamily="34" charset="0"/>
                </a:rPr>
                <a:t> </a:t>
              </a:r>
              <a:r>
                <a:rPr lang="nl-NL" sz="1200" b="0" i="0" u="none" strike="noStrike" dirty="0">
                  <a:solidFill>
                    <a:schemeClr val="accent2"/>
                  </a:solidFill>
                  <a:effectLst/>
                  <a:latin typeface="Source Sans Pro" panose="020B0503030403020204" pitchFamily="34" charset="0"/>
                  <a:hlinkClick r:id="rId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A.E.Wilczynska@tudelft.nl</a:t>
              </a:r>
              <a:endParaRPr lang="nl-NL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4" name="Google Shape;1070;p43">
            <a:extLst>
              <a:ext uri="{FF2B5EF4-FFF2-40B4-BE49-F238E27FC236}">
                <a16:creationId xmlns:a16="http://schemas.microsoft.com/office/drawing/2014/main" id="{D319950B-D410-9D9B-C55C-AAF52AC0CF1E}"/>
              </a:ext>
            </a:extLst>
          </p:cNvPr>
          <p:cNvSpPr txBox="1">
            <a:spLocks/>
          </p:cNvSpPr>
          <p:nvPr/>
        </p:nvSpPr>
        <p:spPr>
          <a:xfrm>
            <a:off x="3879917" y="660832"/>
            <a:ext cx="4432166" cy="1073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4000" kern="0" dirty="0"/>
              <a:t>Who are we</a:t>
            </a:r>
          </a:p>
        </p:txBody>
      </p:sp>
    </p:spTree>
    <p:extLst>
      <p:ext uri="{BB962C8B-B14F-4D97-AF65-F5344CB8AC3E}">
        <p14:creationId xmlns:p14="http://schemas.microsoft.com/office/powerpoint/2010/main" val="3181348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B50BFC44-2289-3BDA-B431-E2E37FB18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FE63D10B-581B-186B-D483-7FF4147B1D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2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70;p43">
            <a:extLst>
              <a:ext uri="{FF2B5EF4-FFF2-40B4-BE49-F238E27FC236}">
                <a16:creationId xmlns:a16="http://schemas.microsoft.com/office/drawing/2014/main" id="{B92B5615-FD5B-6798-E533-CF7593419D93}"/>
              </a:ext>
            </a:extLst>
          </p:cNvPr>
          <p:cNvSpPr txBox="1">
            <a:spLocks/>
          </p:cNvSpPr>
          <p:nvPr/>
        </p:nvSpPr>
        <p:spPr>
          <a:xfrm>
            <a:off x="3710055" y="475912"/>
            <a:ext cx="4432166" cy="1073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4000" kern="0" dirty="0"/>
              <a:t>Context</a:t>
            </a:r>
          </a:p>
        </p:txBody>
      </p:sp>
      <p:pic>
        <p:nvPicPr>
          <p:cNvPr id="2" name="Picture 1" descr="CLDT hex sticker">
            <a:extLst>
              <a:ext uri="{FF2B5EF4-FFF2-40B4-BE49-F238E27FC236}">
                <a16:creationId xmlns:a16="http://schemas.microsoft.com/office/drawing/2014/main" id="{2747AB1E-A41B-5245-F28F-3EE070F09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985" y="1526608"/>
            <a:ext cx="1643966" cy="18905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F7DC1B-5504-9205-2595-150766881E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892" b="50953"/>
          <a:stretch>
            <a:fillRect/>
          </a:stretch>
        </p:blipFill>
        <p:spPr>
          <a:xfrm>
            <a:off x="600392" y="3472183"/>
            <a:ext cx="2852962" cy="14104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1E1DB4-434C-D794-BE22-2391DD075FA1}"/>
              </a:ext>
            </a:extLst>
          </p:cNvPr>
          <p:cNvSpPr txBox="1"/>
          <p:nvPr/>
        </p:nvSpPr>
        <p:spPr>
          <a:xfrm>
            <a:off x="363597" y="5008038"/>
            <a:ext cx="3326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Domain specific training needs</a:t>
            </a:r>
            <a:endParaRPr lang="nl-NL" i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5451EB1-E50F-1EB1-38D2-9A213A293F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1809" y="1877617"/>
            <a:ext cx="3429000" cy="121220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AB7B5A7-667A-14C5-85C0-DF4ABD78BDF4}"/>
              </a:ext>
            </a:extLst>
          </p:cNvPr>
          <p:cNvSpPr txBox="1"/>
          <p:nvPr/>
        </p:nvSpPr>
        <p:spPr>
          <a:xfrm>
            <a:off x="4344988" y="3293092"/>
            <a:ext cx="3429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A national need on </a:t>
            </a:r>
            <a:br>
              <a:rPr lang="en-US" i="1" dirty="0"/>
            </a:br>
            <a:r>
              <a:rPr lang="nl-NL" i="1" dirty="0" err="1"/>
              <a:t>having</a:t>
            </a:r>
            <a:r>
              <a:rPr lang="nl-NL" i="1" dirty="0"/>
              <a:t> best </a:t>
            </a:r>
            <a:r>
              <a:rPr lang="nl-NL" i="1" dirty="0" err="1"/>
              <a:t>practices</a:t>
            </a:r>
            <a:r>
              <a:rPr lang="nl-NL" i="1" dirty="0"/>
              <a:t> </a:t>
            </a:r>
            <a:r>
              <a:rPr lang="nl-NL" i="1" dirty="0" err="1"/>
              <a:t>to</a:t>
            </a:r>
            <a:r>
              <a:rPr lang="nl-NL" i="1" dirty="0"/>
              <a:t> </a:t>
            </a:r>
            <a:r>
              <a:rPr lang="nl-NL" i="1" dirty="0" err="1"/>
              <a:t>embed</a:t>
            </a:r>
            <a:r>
              <a:rPr lang="nl-NL" i="1" dirty="0"/>
              <a:t> </a:t>
            </a:r>
            <a:r>
              <a:rPr lang="nl-NL" i="1" dirty="0" err="1"/>
              <a:t>interoperability</a:t>
            </a:r>
            <a:r>
              <a:rPr lang="nl-NL" i="1" dirty="0"/>
              <a:t> </a:t>
            </a:r>
            <a:r>
              <a:rPr lang="nl-NL" i="1" dirty="0" err="1"/>
              <a:t>into</a:t>
            </a:r>
            <a:r>
              <a:rPr lang="nl-NL" i="1" dirty="0"/>
              <a:t> </a:t>
            </a:r>
            <a:r>
              <a:rPr lang="nl-NL" i="1" dirty="0" err="1"/>
              <a:t>everyday</a:t>
            </a:r>
            <a:r>
              <a:rPr lang="nl-NL" i="1" dirty="0"/>
              <a:t> research </a:t>
            </a:r>
            <a:r>
              <a:rPr lang="nl-NL" i="1" dirty="0" err="1"/>
              <a:t>workflows</a:t>
            </a:r>
            <a:r>
              <a:rPr lang="nl-NL" i="1" dirty="0"/>
              <a:t> of different disciplines.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20724FC-92F4-3CE4-0E08-BA3776996E2C}"/>
              </a:ext>
            </a:extLst>
          </p:cNvPr>
          <p:cNvGrpSpPr/>
          <p:nvPr/>
        </p:nvGrpSpPr>
        <p:grpSpPr>
          <a:xfrm>
            <a:off x="190441" y="1896885"/>
            <a:ext cx="4184159" cy="1173669"/>
            <a:chOff x="4238566" y="1720403"/>
            <a:chExt cx="4184159" cy="117366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BB8B5A3-7617-A686-73E7-15E30EDA51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6132" y="1720403"/>
              <a:ext cx="3018806" cy="87576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83B3453-0055-BBDA-E50B-B5C78AA1EA75}"/>
                </a:ext>
              </a:extLst>
            </p:cNvPr>
            <p:cNvSpPr txBox="1"/>
            <p:nvPr/>
          </p:nvSpPr>
          <p:spPr>
            <a:xfrm>
              <a:off x="4238566" y="2640156"/>
              <a:ext cx="418415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i="1" dirty="0"/>
                <a:t>The repository for Natural , Engineering and Design sciences in NL</a:t>
              </a:r>
              <a:endParaRPr lang="nl-NL" sz="1050" i="1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C375488-28CC-C411-E63C-EBAC4C15461C}"/>
              </a:ext>
            </a:extLst>
          </p:cNvPr>
          <p:cNvSpPr txBox="1"/>
          <p:nvPr/>
        </p:nvSpPr>
        <p:spPr>
          <a:xfrm>
            <a:off x="8903747" y="3429000"/>
            <a:ext cx="2840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i="1" dirty="0"/>
              <a:t> Opportunity</a:t>
            </a:r>
            <a:br>
              <a:rPr lang="nl-NL" i="1" dirty="0"/>
            </a:br>
            <a:r>
              <a:rPr lang="nl-NL" i="1" dirty="0" err="1"/>
              <a:t>to</a:t>
            </a:r>
            <a:r>
              <a:rPr lang="nl-NL" i="1" dirty="0"/>
              <a:t> </a:t>
            </a:r>
            <a:r>
              <a:rPr lang="nl-NL" i="1" dirty="0" err="1"/>
              <a:t>build</a:t>
            </a:r>
            <a:r>
              <a:rPr lang="nl-NL" i="1" dirty="0"/>
              <a:t> </a:t>
            </a:r>
            <a:r>
              <a:rPr lang="nl-NL" i="1" dirty="0" err="1"/>
              <a:t>accessible</a:t>
            </a:r>
            <a:r>
              <a:rPr lang="nl-NL" i="1" dirty="0"/>
              <a:t>, </a:t>
            </a:r>
            <a:r>
              <a:rPr lang="nl-NL" i="1" dirty="0" err="1"/>
              <a:t>and</a:t>
            </a:r>
            <a:r>
              <a:rPr lang="nl-NL" i="1" dirty="0"/>
              <a:t> </a:t>
            </a:r>
            <a:r>
              <a:rPr lang="nl-NL" i="1" dirty="0" err="1"/>
              <a:t>reusable</a:t>
            </a:r>
            <a:r>
              <a:rPr lang="nl-NL" i="1" dirty="0"/>
              <a:t> </a:t>
            </a:r>
            <a:r>
              <a:rPr lang="nl-NL" i="1" dirty="0" err="1"/>
              <a:t>lesson</a:t>
            </a:r>
            <a:r>
              <a:rPr lang="nl-NL" i="1" dirty="0"/>
              <a:t> </a:t>
            </a:r>
            <a:r>
              <a:rPr lang="nl-NL" i="1" dirty="0" err="1"/>
              <a:t>materials</a:t>
            </a:r>
            <a:br>
              <a:rPr lang="nl-NL" i="1" dirty="0"/>
            </a:br>
            <a:r>
              <a:rPr lang="nl-NL" i="1" dirty="0" err="1"/>
              <a:t>for</a:t>
            </a:r>
            <a:r>
              <a:rPr lang="nl-NL" i="1" dirty="0"/>
              <a:t> </a:t>
            </a:r>
            <a:r>
              <a:rPr lang="nl-NL" i="1" dirty="0" err="1"/>
              <a:t>the</a:t>
            </a:r>
            <a:r>
              <a:rPr lang="nl-NL" i="1" dirty="0"/>
              <a:t> community</a:t>
            </a:r>
          </a:p>
        </p:txBody>
      </p:sp>
    </p:spTree>
    <p:extLst>
      <p:ext uri="{BB962C8B-B14F-4D97-AF65-F5344CB8AC3E}">
        <p14:creationId xmlns:p14="http://schemas.microsoft.com/office/powerpoint/2010/main" val="324046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FF6B2AD0-7EA6-1F7B-8CBF-BE091247F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43">
            <a:extLst>
              <a:ext uri="{FF2B5EF4-FFF2-40B4-BE49-F238E27FC236}">
                <a16:creationId xmlns:a16="http://schemas.microsoft.com/office/drawing/2014/main" id="{9BF8F1AD-8AA3-F131-9E84-2BDCA694A13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77800" y="191039"/>
            <a:ext cx="1176337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n-US" sz="4000" dirty="0"/>
              <a:t>Interoperability in Climate and Atmospheric sciences</a:t>
            </a:r>
            <a:endParaRPr sz="4000" dirty="0"/>
          </a:p>
        </p:txBody>
      </p:sp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BC811FB8-731D-52EC-9642-D657E15492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2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558BB4-0110-4CF4-0904-BCAF13347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1976460"/>
            <a:ext cx="8800683" cy="40756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6F5D07-9AFB-71F1-2E61-255C7821A709}"/>
              </a:ext>
            </a:extLst>
          </p:cNvPr>
          <p:cNvSpPr txBox="1"/>
          <p:nvPr/>
        </p:nvSpPr>
        <p:spPr>
          <a:xfrm>
            <a:off x="1809749" y="6052071"/>
            <a:ext cx="88006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600" dirty="0">
                <a:solidFill>
                  <a:schemeClr val="accent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https://4turesearchdata-carpentries.github.io/interoperability-climate-sciences/index.html</a:t>
            </a:r>
            <a:endParaRPr lang="nl-NL" sz="1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198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746A5CEA-E1EC-4974-387A-85BE3779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43">
            <a:extLst>
              <a:ext uri="{FF2B5EF4-FFF2-40B4-BE49-F238E27FC236}">
                <a16:creationId xmlns:a16="http://schemas.microsoft.com/office/drawing/2014/main" id="{381B7EE1-4203-218E-08F5-F2CADABD24E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77800" y="191039"/>
            <a:ext cx="1176337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n-US" sz="4000" dirty="0"/>
              <a:t>Interoperability in Climate and Atmospheric sciences</a:t>
            </a:r>
            <a:endParaRPr sz="4000" dirty="0"/>
          </a:p>
        </p:txBody>
      </p:sp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672D147D-2BC8-9884-D3B5-53B2C19A29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2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208B31-229A-5977-E474-BB83300CA867}"/>
              </a:ext>
            </a:extLst>
          </p:cNvPr>
          <p:cNvSpPr txBox="1"/>
          <p:nvPr/>
        </p:nvSpPr>
        <p:spPr>
          <a:xfrm>
            <a:off x="2143566" y="3505200"/>
            <a:ext cx="8462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Today is the Pilot of the lesson, thanks for participating! </a:t>
            </a:r>
            <a:endParaRPr lang="nl-NL" sz="2400" b="1" dirty="0"/>
          </a:p>
        </p:txBody>
      </p:sp>
    </p:spTree>
    <p:extLst>
      <p:ext uri="{BB962C8B-B14F-4D97-AF65-F5344CB8AC3E}">
        <p14:creationId xmlns:p14="http://schemas.microsoft.com/office/powerpoint/2010/main" val="4256827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FEF2A692-93E2-071B-D4AF-5FD43D8E0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43">
            <a:extLst>
              <a:ext uri="{FF2B5EF4-FFF2-40B4-BE49-F238E27FC236}">
                <a16:creationId xmlns:a16="http://schemas.microsoft.com/office/drawing/2014/main" id="{122D2377-270E-A5E9-A5A7-A22745C3C69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77800" y="191039"/>
            <a:ext cx="1176337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n-US" sz="4000" dirty="0"/>
              <a:t>Interoperability in Climate and Atmospheric sciences</a:t>
            </a:r>
            <a:endParaRPr sz="4000" dirty="0"/>
          </a:p>
        </p:txBody>
      </p:sp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D55641EC-6FE6-BCD8-DF96-08B464F093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2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4C838E-9A67-4F50-A20C-14201FB1A556}"/>
              </a:ext>
            </a:extLst>
          </p:cNvPr>
          <p:cNvSpPr txBox="1"/>
          <p:nvPr/>
        </p:nvSpPr>
        <p:spPr>
          <a:xfrm>
            <a:off x="4658166" y="2246206"/>
            <a:ext cx="23022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Who are you? </a:t>
            </a:r>
            <a:endParaRPr lang="nl-NL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7898FB-D521-F955-4EFF-B45FDED2867C}"/>
              </a:ext>
            </a:extLst>
          </p:cNvPr>
          <p:cNvSpPr txBox="1"/>
          <p:nvPr/>
        </p:nvSpPr>
        <p:spPr>
          <a:xfrm>
            <a:off x="2761282" y="31549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https://vevox.app/#/m/144372812</a:t>
            </a:r>
            <a:endParaRPr lang="nl-NL" dirty="0">
              <a:solidFill>
                <a:srgbClr val="FF0000"/>
              </a:solidFill>
            </a:endParaRPr>
          </a:p>
        </p:txBody>
      </p:sp>
      <p:pic>
        <p:nvPicPr>
          <p:cNvPr id="5" name="Picture 4" descr="Session QR Code">
            <a:extLst>
              <a:ext uri="{FF2B5EF4-FFF2-40B4-BE49-F238E27FC236}">
                <a16:creationId xmlns:a16="http://schemas.microsoft.com/office/drawing/2014/main" id="{4345FF79-A0AD-8627-D71F-B42267106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1494" y="3771361"/>
            <a:ext cx="2695575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722268"/>
      </p:ext>
    </p:extLst>
  </p:cSld>
  <p:clrMapOvr>
    <a:masterClrMapping/>
  </p:clrMapOvr>
</p:sld>
</file>

<file path=ppt/theme/theme1.xml><?xml version="1.0" encoding="utf-8"?>
<a:theme xmlns:a="http://schemas.openxmlformats.org/drawingml/2006/main" name="Inbetween Title Slides">
  <a:themeElements>
    <a:clrScheme name="4TU.ResearchData">
      <a:dk1>
        <a:srgbClr val="3C3C3C"/>
      </a:dk1>
      <a:lt1>
        <a:srgbClr val="FBF5E9"/>
      </a:lt1>
      <a:dk2>
        <a:srgbClr val="FFFFFF"/>
      </a:dk2>
      <a:lt2>
        <a:srgbClr val="FFFFFF"/>
      </a:lt2>
      <a:accent1>
        <a:srgbClr val="F29100"/>
      </a:accent1>
      <a:accent2>
        <a:srgbClr val="FF6829"/>
      </a:accent2>
      <a:accent3>
        <a:srgbClr val="B9DBEF"/>
      </a:accent3>
      <a:accent4>
        <a:srgbClr val="969696"/>
      </a:accent4>
      <a:accent5>
        <a:srgbClr val="F29100"/>
      </a:accent5>
      <a:accent6>
        <a:srgbClr val="F29100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182</Words>
  <Application>Microsoft Office PowerPoint</Application>
  <PresentationFormat>Widescreen</PresentationFormat>
  <Paragraphs>21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Inter Light</vt:lpstr>
      <vt:lpstr>Source Sans Pro</vt:lpstr>
      <vt:lpstr>Space Grotesk</vt:lpstr>
      <vt:lpstr>Inbetween Title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Leila Iñigo de la Cruz</dc:creator>
  <cp:lastModifiedBy>Leila Iñigo de la Cruz</cp:lastModifiedBy>
  <cp:revision>1</cp:revision>
  <dcterms:created xsi:type="dcterms:W3CDTF">2026-08-27T11:20:21Z</dcterms:created>
  <dcterms:modified xsi:type="dcterms:W3CDTF">2026-08-27T12:36:03Z</dcterms:modified>
</cp:coreProperties>
</file>